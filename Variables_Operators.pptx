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69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04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1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90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3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3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6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380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11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6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7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4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4486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98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23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51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64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2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69C2931-F237-4351-BDBF-5285FAE828A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A4ECDC1-9090-47CA-9CC1-1264DDEDC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479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D26C-B24B-4E11-949C-CBFF2676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874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1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153980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E527-F45F-4FFC-8171-AC6C5BED8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7" y="2103438"/>
            <a:ext cx="9144000" cy="2387600"/>
          </a:xfrm>
        </p:spPr>
        <p:txBody>
          <a:bodyPr>
            <a:noAutofit/>
          </a:bodyPr>
          <a:lstStyle/>
          <a:p>
            <a:r>
              <a:rPr lang="en-US" sz="7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Variables and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10DEC-0C14-4104-B0FA-9D35CBA9B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92305" y="216114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Basics of Coding</a:t>
            </a:r>
          </a:p>
        </p:txBody>
      </p:sp>
    </p:spTree>
    <p:extLst>
      <p:ext uri="{BB962C8B-B14F-4D97-AF65-F5344CB8AC3E}">
        <p14:creationId xmlns:p14="http://schemas.microsoft.com/office/powerpoint/2010/main" val="355317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48CD-A85F-4E0F-B533-7E2FA82A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4997-B1F7-4B28-AB3B-960D49324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uses data to perform tasks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store data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perform operations on data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fundamental concepts in any programming language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82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3A0C-E950-4819-AEBE-F99C0562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a Variable?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D6D70A-DD91-4C7C-B99B-06695696E9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8529" y="1027906"/>
            <a:ext cx="7504875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variable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 that stores data values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 can change during program execution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variable has: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(identifier)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nt x = 10;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 name =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John”;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896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7E0D6-E5C3-4C97-96B2-2055BD24C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Rules for Naming Variables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9A2835-C384-4B97-BD6D-9390118573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30354"/>
            <a:ext cx="8278906" cy="5462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 start with a letter or underscore (_)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start with a number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spaces allowed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use keywords (like if, while, int)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Case-sensitive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Invalid: 1age,@marks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valid: age, _marks</a:t>
            </a:r>
          </a:p>
        </p:txBody>
      </p:sp>
    </p:spTree>
    <p:extLst>
      <p:ext uri="{BB962C8B-B14F-4D97-AF65-F5344CB8AC3E}">
        <p14:creationId xmlns:p14="http://schemas.microsoft.com/office/powerpoint/2010/main" val="422673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6C33-E854-434F-9E06-95B695DF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254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are Operator</a:t>
            </a:r>
            <a:r>
              <a:rPr lang="en-US" sz="5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s?</a:t>
            </a:r>
            <a:b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CA3C8-237D-43CD-AA57-DB995349C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symbols used to perform operations on variables and 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+ b  //+ is a arithmetic operator to perform addition on a and b (operands)//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61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6DFC-2DE1-429F-924A-A45454BAA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7A0B5-3FC4-473D-AA21-39F0E5FBAB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7118" y="1258452"/>
            <a:ext cx="5957080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 (Comparison) Operators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 (optional/advanced) </a:t>
            </a:r>
          </a:p>
        </p:txBody>
      </p:sp>
    </p:spTree>
    <p:extLst>
      <p:ext uri="{BB962C8B-B14F-4D97-AF65-F5344CB8AC3E}">
        <p14:creationId xmlns:p14="http://schemas.microsoft.com/office/powerpoint/2010/main" val="327620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0FF3-FDCD-43FF-B3E9-73A9E9E1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0099-C173-4ECB-AD3F-13064E1DF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89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mathematical calculations: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A=5,B=2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8397D4-2916-4D38-8685-8E62AA8FC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113116"/>
              </p:ext>
            </p:extLst>
          </p:nvPr>
        </p:nvGraphicFramePr>
        <p:xfrm>
          <a:off x="838200" y="2721134"/>
          <a:ext cx="10515600" cy="36271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655992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279459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82126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050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a+b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//5+2=7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68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a-b  //5-2=3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185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a*b  //5*2=10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535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a/b  //5/2=2.5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6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a%b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//5%2=0.1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693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**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a**b //5**2=25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670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40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F2B1-C51B-4A18-8B68-A362E4EA6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850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2.Relational(Comparison)Operators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F805-4C06-4938-A5E3-C49FE6F94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071" y="14864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values: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32C54D-C540-4A4A-8888-5D8CBC17A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867880"/>
              </p:ext>
            </p:extLst>
          </p:nvPr>
        </p:nvGraphicFramePr>
        <p:xfrm>
          <a:off x="746312" y="2816620"/>
          <a:ext cx="10520082" cy="3627120"/>
        </p:xfrm>
        <a:graphic>
          <a:graphicData uri="http://schemas.openxmlformats.org/drawingml/2006/table">
            <a:tbl>
              <a:tblPr/>
              <a:tblGrid>
                <a:gridCol w="3508686">
                  <a:extLst>
                    <a:ext uri="{9D8B030D-6E8A-4147-A177-3AD203B41FA5}">
                      <a16:colId xmlns:a16="http://schemas.microsoft.com/office/drawing/2014/main" val="3367246056"/>
                    </a:ext>
                  </a:extLst>
                </a:gridCol>
                <a:gridCol w="3505698">
                  <a:extLst>
                    <a:ext uri="{9D8B030D-6E8A-4147-A177-3AD203B41FA5}">
                      <a16:colId xmlns:a16="http://schemas.microsoft.com/office/drawing/2014/main" val="388478397"/>
                    </a:ext>
                  </a:extLst>
                </a:gridCol>
                <a:gridCol w="3505698">
                  <a:extLst>
                    <a:ext uri="{9D8B030D-6E8A-4147-A177-3AD203B41FA5}">
                      <a16:colId xmlns:a16="http://schemas.microsoft.com/office/drawing/2014/main" val="2599784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056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Exactly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a==b  //a=5,b=5(True)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329080"/>
                  </a:ext>
                </a:extLst>
              </a:tr>
              <a:tr h="16287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a!=b  //a=5,b=4(True)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767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a&gt;b  //a=5,b=4(True)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171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a&lt;b  //a=5,b=4(False)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381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 or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a&lt;=b  //a=5,b=6(True)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277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or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a&gt;=b  //a=5,b=6(False)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89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502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6CC4-440E-442A-9D6D-2A51AE22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4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3.Logical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FBD3B0-F552-4F08-97D2-AC5A5063F5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3015510"/>
              </p:ext>
            </p:extLst>
          </p:nvPr>
        </p:nvGraphicFramePr>
        <p:xfrm>
          <a:off x="838200" y="1791238"/>
          <a:ext cx="10466295" cy="2072640"/>
        </p:xfrm>
        <a:graphic>
          <a:graphicData uri="http://schemas.openxmlformats.org/drawingml/2006/table">
            <a:tbl>
              <a:tblPr/>
              <a:tblGrid>
                <a:gridCol w="3488765">
                  <a:extLst>
                    <a:ext uri="{9D8B030D-6E8A-4147-A177-3AD203B41FA5}">
                      <a16:colId xmlns:a16="http://schemas.microsoft.com/office/drawing/2014/main" val="3131625826"/>
                    </a:ext>
                  </a:extLst>
                </a:gridCol>
                <a:gridCol w="3488765">
                  <a:extLst>
                    <a:ext uri="{9D8B030D-6E8A-4147-A177-3AD203B41FA5}">
                      <a16:colId xmlns:a16="http://schemas.microsoft.com/office/drawing/2014/main" val="3861858929"/>
                    </a:ext>
                  </a:extLst>
                </a:gridCol>
                <a:gridCol w="3488765">
                  <a:extLst>
                    <a:ext uri="{9D8B030D-6E8A-4147-A177-3AD203B41FA5}">
                      <a16:colId xmlns:a16="http://schemas.microsoft.com/office/drawing/2014/main" val="1144924019"/>
                    </a:ext>
                  </a:extLst>
                </a:gridCol>
              </a:tblGrid>
              <a:tr h="36069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688434"/>
                  </a:ext>
                </a:extLst>
              </a:tr>
              <a:tr h="36069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if both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4406282"/>
                  </a:ext>
                </a:extLst>
              </a:tr>
              <a:tr h="36069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 |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if one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328886"/>
                  </a:ext>
                </a:extLst>
              </a:tr>
              <a:tr h="36069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Reverses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54964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B9B2FCF-02F2-4796-AD29-BCCEA53F2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C0E3B-2397-4FB2-A9FD-5F4EDBA18C1E}"/>
              </a:ext>
            </a:extLst>
          </p:cNvPr>
          <p:cNvSpPr txBox="1"/>
          <p:nvPr/>
        </p:nvSpPr>
        <p:spPr>
          <a:xfrm>
            <a:off x="746312" y="1240385"/>
            <a:ext cx="61228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combine conditions: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D6CA3C-F0DD-4FA0-9FFF-ABC640965965}"/>
              </a:ext>
            </a:extLst>
          </p:cNvPr>
          <p:cNvSpPr txBox="1"/>
          <p:nvPr/>
        </p:nvSpPr>
        <p:spPr>
          <a:xfrm>
            <a:off x="746312" y="3891511"/>
            <a:ext cx="4303059" cy="3127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&gt; 18 AND age &lt; 60</a:t>
            </a:r>
          </a:p>
          <a:p>
            <a:pPr marL="914400" lvl="1" indent="-4572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age=19</a:t>
            </a:r>
          </a:p>
          <a:p>
            <a:pPr lvl="1">
              <a:lnSpc>
                <a:spcPct val="16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95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B271-6EF6-4F4B-A737-8C3835A4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46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4.Assignment Operators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9525-4DB2-48C3-8A0A-E941A2F37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659" y="1413249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assign values: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a=5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9AF3A6-9A21-44A3-81B9-6669FCBB9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144868"/>
              </p:ext>
            </p:extLst>
          </p:nvPr>
        </p:nvGraphicFramePr>
        <p:xfrm>
          <a:off x="721659" y="2868155"/>
          <a:ext cx="10515600" cy="31089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37664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364056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32678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71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 to / Assigning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a=5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987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a+=5  //a+5=10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882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Minus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a-=5  //a-5=0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295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Multiply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a*=5 //a*5=25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072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by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602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166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0E42-505E-4F44-8A2D-93DC5406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962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US" altLang="en-US" sz="47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5.Bitwise Operators  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A957-8EEE-482B-86AE-E9C2BCEE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04" y="744694"/>
            <a:ext cx="10515600" cy="4351338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perform operations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numbers (bits)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 is True and 0 is False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6A7240-E07C-4438-84D9-7A2E4A6FE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140589"/>
              </p:ext>
            </p:extLst>
          </p:nvPr>
        </p:nvGraphicFramePr>
        <p:xfrm>
          <a:off x="578222" y="1791148"/>
          <a:ext cx="10515600" cy="35356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5562196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39941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857759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1628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845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Bitwise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1 if both bits are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824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Bitwise 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1 if at least one bit is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213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Bitwise XOR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1 if bits are different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887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Bitwise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Reverses all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444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379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5879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241D54-FB2E-498C-8838-CB088006205F}"/>
              </a:ext>
            </a:extLst>
          </p:cNvPr>
          <p:cNvSpPr txBox="1"/>
          <p:nvPr/>
        </p:nvSpPr>
        <p:spPr>
          <a:xfrm>
            <a:off x="578222" y="4788682"/>
            <a:ext cx="43299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&amp; 1 = 1   (True)</a:t>
            </a:r>
          </a:p>
          <a:p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&amp; 0 = 0   (False)</a:t>
            </a:r>
          </a:p>
          <a:p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| 0 = 1   (True)</a:t>
            </a:r>
          </a:p>
          <a:p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^ 1 = 0   (False)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990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566A-4B35-4B1A-B0DA-BA7BEDE1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Real-Life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8ABD3-D2FC-4F95-A73C-F576E8717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apps → calculate price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Games → score counting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→ balance calculation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systems → marks &amp; grades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436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06C8-DB53-4FDA-92C2-4EB0D87B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AA63C6-019F-4376-9056-864943CAAC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0318" y="828801"/>
            <a:ext cx="10063973" cy="260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Variables are used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 program.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act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whose values can change during execution.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Operators are used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variables and values.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226079-15B5-46B1-BE4F-A1D43B7FD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318" y="3106272"/>
            <a:ext cx="11954811" cy="2230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Together, variables and operators form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foundation of programming logic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help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making, calculations, and data manipulation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them is essential for writing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error-free programs.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813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537C23-FA76-464C-8319-B00EE68FC5CA}"/>
              </a:ext>
            </a:extLst>
          </p:cNvPr>
          <p:cNvSpPr txBox="1"/>
          <p:nvPr/>
        </p:nvSpPr>
        <p:spPr>
          <a:xfrm>
            <a:off x="2478741" y="2655689"/>
            <a:ext cx="72345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9305017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90</TotalTime>
  <Words>666</Words>
  <Application>Microsoft Office PowerPoint</Application>
  <PresentationFormat>Widescreen</PresentationFormat>
  <Paragraphs>170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Corbel</vt:lpstr>
      <vt:lpstr>Courier New</vt:lpstr>
      <vt:lpstr>Times New Roman</vt:lpstr>
      <vt:lpstr>Depth</vt:lpstr>
      <vt:lpstr>Welcome</vt:lpstr>
      <vt:lpstr>Variables and Operators</vt:lpstr>
      <vt:lpstr>Introduction</vt:lpstr>
      <vt:lpstr>What is a Variable?</vt:lpstr>
      <vt:lpstr>Rules for Naming Variables</vt:lpstr>
      <vt:lpstr>What are Operators? </vt:lpstr>
      <vt:lpstr>Types of Operators</vt:lpstr>
      <vt:lpstr>1.Arithmetic Operators</vt:lpstr>
      <vt:lpstr>2.Relational(Comparison)Operators</vt:lpstr>
      <vt:lpstr>3.Logical Operators</vt:lpstr>
      <vt:lpstr>4.Assignment Operators  </vt:lpstr>
      <vt:lpstr>5.Bitwise Operators   </vt:lpstr>
      <vt:lpstr>Real-Life Use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Admin</dc:creator>
  <cp:lastModifiedBy>Admin</cp:lastModifiedBy>
  <cp:revision>1</cp:revision>
  <dcterms:created xsi:type="dcterms:W3CDTF">2026-04-07T17:36:29Z</dcterms:created>
  <dcterms:modified xsi:type="dcterms:W3CDTF">2026-04-07T19:07:21Z</dcterms:modified>
</cp:coreProperties>
</file>